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№5. Основы работы с Midnight Commander. Структура программы на языке ассемблера NASM. Системные вызовы в ОС GNU Linux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ФИО:</a:t>
            </a:r>
            <a:r>
              <a:rPr/>
              <a:t> [Сунь Шэнцзе]</a:t>
            </a:r>
            <a:br/>
            <a:r>
              <a:rPr b="1"/>
              <a:t>Номер студенческого билета:</a:t>
            </a:r>
            <a:r>
              <a:rPr/>
              <a:t> [1132254527]</a:t>
            </a:r>
            <a:br/>
            <a:r>
              <a:rPr b="1"/>
              <a:t>Дата:</a:t>
            </a:r>
            <a:r>
              <a:rPr/>
              <a:t> 09 ноябрь 2025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Цель работы</a:t>
            </a:r>
          </a:p>
          <a:p>
            <a:pPr lvl="0"/>
            <a:r>
              <a:rPr/>
              <a:t>Приобретение практических навыков работы в Midnight Commander (mc)</a:t>
            </a:r>
          </a:p>
          <a:p>
            <a:pPr lvl="0"/>
            <a:r>
              <a:rPr/>
              <a:t>Освоение структуры программы на языке ассемблера NASM (</a:t>
            </a:r>
            <a:r>
              <a:rPr>
                <a:latin typeface="Courier"/>
              </a:rPr>
              <a:t>.data</a:t>
            </a:r>
            <a:r>
              <a:rPr/>
              <a:t>, </a:t>
            </a:r>
            <a:r>
              <a:rPr>
                <a:latin typeface="Courier"/>
              </a:rPr>
              <a:t>.bss</a:t>
            </a:r>
            <a:r>
              <a:rPr/>
              <a:t>, </a:t>
            </a:r>
            <a:r>
              <a:rPr>
                <a:latin typeface="Courier"/>
              </a:rPr>
              <a:t>.text</a:t>
            </a:r>
            <a:r>
              <a:rPr/>
              <a:t>)</a:t>
            </a:r>
          </a:p>
          <a:p>
            <a:pPr lvl="0"/>
            <a:r>
              <a:rPr/>
              <a:t>Изучение инструкций </a:t>
            </a:r>
            <a:r>
              <a:rPr>
                <a:latin typeface="Courier"/>
              </a:rPr>
              <a:t>mov</a:t>
            </a:r>
            <a:r>
              <a:rPr/>
              <a:t> и </a:t>
            </a:r>
            <a:r>
              <a:rPr>
                <a:latin typeface="Courier"/>
              </a:rPr>
              <a:t>int</a:t>
            </a:r>
          </a:p>
          <a:p>
            <a:pPr lvl="0"/>
            <a:r>
              <a:rPr/>
              <a:t>Освоение системных вызовов Linux для ввода-вывода (</a:t>
            </a:r>
            <a:r>
              <a:rPr>
                <a:latin typeface="Courier"/>
              </a:rPr>
              <a:t>sys_write</a:t>
            </a:r>
            <a:r>
              <a:rPr/>
              <a:t>, </a:t>
            </a:r>
            <a:r>
              <a:rPr>
                <a:latin typeface="Courier"/>
              </a:rPr>
              <a:t>sys_read</a:t>
            </a:r>
            <a:r>
              <a:rPr/>
              <a:t>, </a:t>
            </a:r>
            <a:r>
              <a:rPr>
                <a:latin typeface="Courier"/>
              </a:rPr>
              <a:t>sys_exit</a:t>
            </a:r>
            <a:r>
              <a:rPr/>
              <a:t>)</a:t>
            </a:r>
          </a:p>
          <a:p>
            <a:pPr lvl="0"/>
            <a:r>
              <a:rPr/>
              <a:t>Изучение использования внешних подключаемых файлов (</a:t>
            </a:r>
            <a:r>
              <a:rPr>
                <a:latin typeface="Courier"/>
              </a:rPr>
              <a:t>in_out.asm</a:t>
            </a:r>
            <a:r>
              <a:rPr/>
              <a:t>) для упрощения программирования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Порядок выполнения работы и результаты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Шаг 1: Запуск MC и переход в рабочий каталог</a:t>
            </a:r>
          </a:p>
        </p:txBody>
      </p:sp>
      <p:pic>
        <p:nvPicPr>
          <p:cNvPr descr="screenshots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Интерфейс MC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Интерфейс MC * </a:t>
            </a:r>
            <a:r>
              <a:rPr b="1"/>
              <a:t>Основное:</a:t>
            </a:r>
            <a:r>
              <a:rPr/>
              <a:t> Успешный запуск Midnight Commander в каталоге </a:t>
            </a:r>
            <a:r>
              <a:rPr>
                <a:latin typeface="Courier"/>
              </a:rPr>
              <a:t>~/work/arch-pc/lab05</a:t>
            </a:r>
            <a:r>
              <a:rPr/>
              <a:t>, интерфейс содержит две панели, отображающие структуру каталогов.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Шаг 2: Создание каталога lab05</a:t>
            </a:r>
          </a:p>
        </p:txBody>
      </p:sp>
      <p:pic>
        <p:nvPicPr>
          <p:cNvPr descr="screenshots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47800"/>
            <a:ext cx="5105400" cy="137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каталога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Использование функциональной клавиши </a:t>
            </a:r>
            <a:r>
              <a:rPr>
                <a:latin typeface="Courier"/>
              </a:rPr>
              <a:t>F7</a:t>
            </a:r>
            <a:r>
              <a:rPr/>
              <a:t> для успешного создания каталога </a:t>
            </a:r>
            <a:r>
              <a:rPr>
                <a:latin typeface="Courier"/>
              </a:rPr>
              <a:t>lab05</a:t>
            </a:r>
            <a:r>
              <a:rPr/>
              <a:t>, отображение диалогового окна создания каталога.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Шаг 3: Создание файла lab05-1.asm</a:t>
            </a:r>
          </a:p>
        </p:txBody>
      </p:sp>
      <p:pic>
        <p:nvPicPr>
          <p:cNvPr descr="screenshots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файла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Успешное создание исходного файла </a:t>
            </a:r>
            <a:r>
              <a:rPr>
                <a:latin typeface="Courier"/>
              </a:rPr>
              <a:t>lab5-1.asm</a:t>
            </a:r>
            <a:r>
              <a:rPr/>
              <a:t> в каталоге </a:t>
            </a:r>
            <a:r>
              <a:rPr>
                <a:latin typeface="Courier"/>
              </a:rPr>
              <a:t>lab05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2.4 Шаг 4: Редактирование файла lab05-1.asm</a:t>
            </a:r>
          </a:p>
        </p:txBody>
      </p:sp>
      <p:pic>
        <p:nvPicPr>
          <p:cNvPr descr="screenshots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Редактирование кода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Использование клавиши </a:t>
            </a:r>
            <a:r>
              <a:rPr>
                <a:latin typeface="Courier"/>
              </a:rPr>
              <a:t>F4</a:t>
            </a:r>
            <a:r>
              <a:rPr/>
              <a:t> для открытия встроенного редактора, полный ввод кода из листинга 5.1, содержащего структуру из трех SECTION.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2.5 Шаг 5: Просмотр файла lab05-1.asm</a:t>
            </a:r>
          </a:p>
        </p:txBody>
      </p:sp>
      <p:pic>
        <p:nvPicPr>
          <p:cNvPr descr="screenshots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Просмотр файла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Использование клавиши </a:t>
            </a:r>
            <a:r>
              <a:rPr>
                <a:latin typeface="Courier"/>
              </a:rPr>
              <a:t>F3</a:t>
            </a:r>
            <a:r>
              <a:rPr/>
              <a:t> для просмотра содержимого файла, подтверждение корректного сохранения кода.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2.6 Шаг 6: Ассемблирование, компоновка и запуск lab05-1.asm</a:t>
            </a:r>
          </a:p>
        </p:txBody>
      </p:sp>
      <p:pic>
        <p:nvPicPr>
          <p:cNvPr descr="screenshots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lab5-1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Успешное выполнение команд </a:t>
            </a:r>
            <a:r>
              <a:rPr>
                <a:latin typeface="Courier"/>
              </a:rPr>
              <a:t>nasm -f elf lab5-1.asm</a:t>
            </a:r>
            <a:r>
              <a:rPr/>
              <a:t>, </a:t>
            </a:r>
            <a:r>
              <a:rPr>
                <a:latin typeface="Courier"/>
              </a:rPr>
              <a:t>ld -m elf_i386 -o lab5-1 lab5-1.o</a:t>
            </a:r>
            <a:r>
              <a:rPr/>
              <a:t> и </a:t>
            </a:r>
            <a:r>
              <a:rPr>
                <a:latin typeface="Courier"/>
              </a:rPr>
              <a:t>./lab5-1</a:t>
            </a:r>
            <a:r>
              <a:rPr/>
              <a:t>, программа отображает приглашение и ожидает ввода, после ввода имени программа нормально завершается.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2.7 Шаг 7: Получение и использование in_out.asm</a:t>
            </a:r>
          </a:p>
        </p:txBody>
      </p:sp>
      <p:pic>
        <p:nvPicPr>
          <p:cNvPr descr="screenshots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Копирование файла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Использование клавиши </a:t>
            </a:r>
            <a:r>
              <a:rPr>
                <a:latin typeface="Courier"/>
              </a:rPr>
              <a:t>Tab</a:t>
            </a:r>
            <a:r>
              <a:rPr/>
              <a:t> для переключения между панелями, копирование файла </a:t>
            </a:r>
            <a:r>
              <a:rPr>
                <a:latin typeface="Courier"/>
              </a:rPr>
              <a:t>in_out.asm</a:t>
            </a:r>
            <a:r>
              <a:rPr/>
              <a:t> в рабочий каталог </a:t>
            </a:r>
            <a:r>
              <a:rPr>
                <a:latin typeface="Courier"/>
              </a:rPr>
              <a:t>lab05</a:t>
            </a:r>
            <a:r>
              <a:rPr/>
              <a:t> с помощью клавиши </a:t>
            </a:r>
            <a:r>
              <a:rPr>
                <a:latin typeface="Courier"/>
              </a:rPr>
              <a:t>F5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2.8 Шаг 8: Создание и редактирование lab05-2.asm</a:t>
            </a:r>
          </a:p>
        </p:txBody>
      </p:sp>
      <p:pic>
        <p:nvPicPr>
          <p:cNvPr descr="screenshots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Редактирование lab5-2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Редактирование lab5-2 * </a:t>
            </a:r>
            <a:r>
              <a:rPr b="1"/>
              <a:t>Основное:</a:t>
            </a:r>
            <a:r>
              <a:rPr/>
              <a:t> Использование </a:t>
            </a:r>
            <a:r>
              <a:rPr>
                <a:latin typeface="Courier"/>
              </a:rPr>
              <a:t>F6</a:t>
            </a:r>
            <a:r>
              <a:rPr/>
              <a:t> для создания копии </a:t>
            </a:r>
            <a:r>
              <a:rPr>
                <a:latin typeface="Courier"/>
              </a:rPr>
              <a:t>lab5-2.asm</a:t>
            </a:r>
            <a:r>
              <a:rPr/>
              <a:t>, модификация кода с использованием </a:t>
            </a:r>
            <a:r>
              <a:rPr>
                <a:latin typeface="Courier"/>
              </a:rPr>
              <a:t>%include 'in_out.asm'</a:t>
            </a:r>
            <a:r>
              <a:rPr/>
              <a:t> и инструкции </a:t>
            </a:r>
            <a:r>
              <a:rPr>
                <a:latin typeface="Courier"/>
              </a:rPr>
              <a:t>call</a:t>
            </a:r>
            <a:r>
              <a:rPr/>
              <a:t> для вызова подпрограмм.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2.9 Шаг 9: Запуск lab05-2.asm</a:t>
            </a:r>
          </a:p>
        </p:txBody>
      </p:sp>
      <p:pic>
        <p:nvPicPr>
          <p:cNvPr descr="screenshots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669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lab5-2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</a:t>
            </a:r>
            <a:r>
              <a:rPr b="1"/>
              <a:t>Основное:</a:t>
            </a:r>
            <a:r>
              <a:rPr/>
              <a:t> Успешная компиляция и запуск </a:t>
            </a:r>
            <a:r>
              <a:rPr>
                <a:latin typeface="Courier"/>
              </a:rPr>
              <a:t>lab5-2.asm</a:t>
            </a:r>
            <a:r>
              <a:rPr/>
              <a:t>, программа с использованием внешней библиотеки функционирует нормально.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2.10 Шаг 10: Сравнение sprintLF и sprint</a:t>
            </a:r>
          </a:p>
        </p:txBody>
      </p:sp>
      <p:pic>
        <p:nvPicPr>
          <p:cNvPr descr="screenshots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669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Сравнение функций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Сравнение функций * </a:t>
            </a:r>
            <a:r>
              <a:rPr b="1"/>
              <a:t>Основное:</a:t>
            </a:r>
            <a:r>
              <a:rPr/>
              <a:t> </a:t>
            </a:r>
            <a:r>
              <a:rPr>
                <a:latin typeface="Courier"/>
              </a:rPr>
              <a:t>sprintLF</a:t>
            </a:r>
            <a:r>
              <a:rPr/>
              <a:t> автоматически добавляет символ перевода строки после вывода, помещая курсор ввода на следующую строку; </a:t>
            </a:r>
            <a:r>
              <a:rPr>
                <a:latin typeface="Courier"/>
              </a:rPr>
              <a:t>sprint</a:t>
            </a:r>
            <a:r>
              <a:rPr/>
              <a:t> не добавляет перевод строки, курсор ввода остается сразу после выведенного содержимого.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Выполнение заданий для самостоятельной работы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Задание 1 &amp; 2: Модификация lab05-1.asm (без внешней библиотеки)</a:t>
            </a:r>
          </a:p>
        </p:txBody>
      </p:sp>
      <p:pic>
        <p:nvPicPr>
          <p:cNvPr descr="screenshots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самостоятельного задания 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Результат самостоятельного задания 1 Результат самостоятельного задания 1 * </a:t>
            </a:r>
            <a:r>
              <a:rPr b="1"/>
              <a:t>Вывод:</a:t>
            </a:r>
            <a:r>
              <a:rPr/>
              <a:t> Успешное выполнение самостоятельного задания 1, программа способна отображать приглашение, принимать пользовательский ввод и корректно выводить введенную строку, все функции работают нормально.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 Задание 3 &amp; 4: Модификация lab05-2.asm (с использованием внешней библиотеки)</a:t>
            </a:r>
          </a:p>
        </p:txBody>
      </p:sp>
      <p:pic>
        <p:nvPicPr>
          <p:cNvPr descr="screenshots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самостоятельного задания 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Результат самостоятельного задания 1 Результат самостоятельного задания 1 * </a:t>
            </a:r>
            <a:r>
              <a:rPr b="1"/>
              <a:t>Вывод:</a:t>
            </a:r>
            <a:r>
              <a:rPr/>
              <a:t> Успешное выполнение самостоятельного задания 2, программа с использованием внешней библиотеки </a:t>
            </a:r>
            <a:r>
              <a:rPr>
                <a:latin typeface="Courier"/>
              </a:rPr>
              <a:t>in_out.asm</a:t>
            </a:r>
            <a:r>
              <a:rPr/>
              <a:t> работает нормально, реализованы функции ввода строки и ее отображения, код стал более лаконичным.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Ответы на вопросы для самопроверки</a:t>
            </a:r>
          </a:p>
          <a:p>
            <a:pPr lvl="0" indent="-342900" marL="342900">
              <a:buAutoNum type="arabicPeriod"/>
            </a:pPr>
            <a:r>
              <a:rPr b="1"/>
              <a:t>Каково назначение mc?</a:t>
            </a:r>
            <a:br/>
            <a:r>
              <a:rPr/>
              <a:t>Midnight Commander (mc) — это визуальный файловый менеджер, используемый в Unix-подобных системах для просмотра структуры каталогов, управления файлами (копирование, перемещение, удаление и т.д.) и выполнения основных операций с файловой системой. Он предоставляет более интуитивно понятный интерфейс по сравнению с чистой командной строкой.</a:t>
            </a:r>
          </a:p>
          <a:p>
            <a:pPr lvl="0" indent="-342900" marL="342900">
              <a:buAutoNum type="arabicPeriod"/>
            </a:pPr>
            <a:r>
              <a:rPr b="1"/>
              <a:t>Какие операции с файлами можно выполнить как с помощью команд bash, так и с помощью меню (комбинаций клавиш) mc? Приведите несколько примеров.</a:t>
            </a:r>
          </a:p>
          <a:p>
            <a:pPr lvl="1"/>
            <a:r>
              <a:rPr b="1"/>
              <a:t>Копирование файла:</a:t>
            </a:r>
            <a:r>
              <a:rPr/>
              <a:t> Bash: </a:t>
            </a:r>
            <a:r>
              <a:rPr>
                <a:latin typeface="Courier"/>
              </a:rPr>
              <a:t>cp source dest</a:t>
            </a:r>
            <a:r>
              <a:rPr/>
              <a:t> | MC: Выделить файл, нажать </a:t>
            </a:r>
            <a:r>
              <a:rPr>
                <a:latin typeface="Courier"/>
              </a:rPr>
              <a:t>F5</a:t>
            </a:r>
          </a:p>
          <a:p>
            <a:pPr lvl="1"/>
            <a:r>
              <a:rPr b="1"/>
              <a:t>Перемещение/переименование файла:</a:t>
            </a:r>
            <a:r>
              <a:rPr/>
              <a:t> Bash: </a:t>
            </a:r>
            <a:r>
              <a:rPr>
                <a:latin typeface="Courier"/>
              </a:rPr>
              <a:t>mv old new</a:t>
            </a:r>
            <a:r>
              <a:rPr/>
              <a:t> | MC: Выделить файл, нажать </a:t>
            </a:r>
            <a:r>
              <a:rPr>
                <a:latin typeface="Courier"/>
              </a:rPr>
              <a:t>F6</a:t>
            </a:r>
          </a:p>
          <a:p>
            <a:pPr lvl="1"/>
            <a:r>
              <a:rPr b="1"/>
              <a:t>Создание каталога:</a:t>
            </a:r>
            <a:r>
              <a:rPr/>
              <a:t> Bash: </a:t>
            </a:r>
            <a:r>
              <a:rPr>
                <a:latin typeface="Courier"/>
              </a:rPr>
              <a:t>mkdir dirname</a:t>
            </a:r>
            <a:r>
              <a:rPr/>
              <a:t> | MC: Нажать </a:t>
            </a:r>
            <a:r>
              <a:rPr>
                <a:latin typeface="Courier"/>
              </a:rPr>
              <a:t>F7</a:t>
            </a:r>
          </a:p>
          <a:p>
            <a:pPr lvl="1"/>
            <a:r>
              <a:rPr b="1"/>
              <a:t>Удаление файла:</a:t>
            </a:r>
            <a:r>
              <a:rPr/>
              <a:t> Bash: </a:t>
            </a:r>
            <a:r>
              <a:rPr>
                <a:latin typeface="Courier"/>
              </a:rPr>
              <a:t>rm filename</a:t>
            </a:r>
            <a:r>
              <a:rPr/>
              <a:t> | MC: Выделить файл, нажать </a:t>
            </a:r>
            <a:r>
              <a:rPr>
                <a:latin typeface="Courier"/>
              </a:rPr>
              <a:t>F8</a:t>
            </a:r>
          </a:p>
          <a:p>
            <a:pPr lvl="1"/>
            <a:r>
              <a:rPr b="1"/>
              <a:t>Просмотр содержимого файла:</a:t>
            </a:r>
            <a:r>
              <a:rPr/>
              <a:t> Bash: </a:t>
            </a:r>
            <a:r>
              <a:rPr>
                <a:latin typeface="Courier"/>
              </a:rPr>
              <a:t>cat filename</a:t>
            </a:r>
            <a:r>
              <a:rPr/>
              <a:t> или </a:t>
            </a:r>
            <a:r>
              <a:rPr>
                <a:latin typeface="Courier"/>
              </a:rPr>
              <a:t>less filename</a:t>
            </a:r>
            <a:r>
              <a:rPr/>
              <a:t> | MC: Выделить файл, нажать </a:t>
            </a:r>
            <a:r>
              <a:rPr>
                <a:latin typeface="Courier"/>
              </a:rPr>
              <a:t>F3</a:t>
            </a:r>
          </a:p>
          <a:p>
            <a:pPr lvl="0" indent="-342900" marL="342900">
              <a:buAutoNum type="arabicPeriod"/>
            </a:pPr>
            <a:r>
              <a:rPr b="1"/>
              <a:t>Какова структура программы на языке ассемблера NASM?</a:t>
            </a:r>
            <a:br/>
            <a:r>
              <a:rPr/>
              <a:t>Типичная программа NASM состоит из трех основных секций:</a:t>
            </a:r>
          </a:p>
          <a:p>
            <a:pPr lvl="1"/>
            <a:r>
              <a:rPr>
                <a:latin typeface="Courier"/>
              </a:rPr>
              <a:t>SECTION .data</a:t>
            </a:r>
            <a:r>
              <a:rPr/>
              <a:t>: Для объявления инициализированных данных (переменные и строки с известными начальными значениями)</a:t>
            </a:r>
          </a:p>
          <a:p>
            <a:pPr lvl="1"/>
            <a:r>
              <a:rPr>
                <a:latin typeface="Courier"/>
              </a:rPr>
              <a:t>SECTION .bss</a:t>
            </a:r>
            <a:r>
              <a:rPr/>
              <a:t>: Для объявления неинициализированных данных (память выделяется при запуске программы, но начальные значения не определены)</a:t>
            </a:r>
          </a:p>
          <a:p>
            <a:pPr lvl="1"/>
            <a:r>
              <a:rPr>
                <a:latin typeface="Courier"/>
              </a:rPr>
              <a:t>SECTION .text</a:t>
            </a:r>
            <a:r>
              <a:rPr/>
              <a:t>: Содержит исполняемые инструкции программы. Точка входа в программу — метка </a:t>
            </a:r>
            <a:r>
              <a:rPr>
                <a:latin typeface="Courier"/>
              </a:rPr>
              <a:t>_start:</a:t>
            </a:r>
          </a:p>
          <a:p>
            <a:pPr lvl="0" indent="-342900" marL="342900">
              <a:buAutoNum type="arabicPeriod"/>
            </a:pPr>
            <a:r>
              <a:rPr b="1"/>
              <a:t>Для описания каких данных используются секции bss и data в языке ассемблера NASM?</a:t>
            </a:r>
          </a:p>
          <a:p>
            <a:pPr lvl="1"/>
            <a:r>
              <a:rPr/>
              <a:t>Секция </a:t>
            </a:r>
            <a:r>
              <a:rPr>
                <a:latin typeface="Courier"/>
              </a:rPr>
              <a:t>.data</a:t>
            </a:r>
            <a:r>
              <a:rPr/>
              <a:t> используется для хранения инициализированных данных, то есть данных, конкретные значения которых известны на момент компиляции программы (например, константы, строки, переменные с начальными значениями)</a:t>
            </a:r>
          </a:p>
          <a:p>
            <a:pPr lvl="1"/>
            <a:r>
              <a:rPr/>
              <a:t>Секция </a:t>
            </a:r>
            <a:r>
              <a:rPr>
                <a:latin typeface="Courier"/>
              </a:rPr>
              <a:t>.bss</a:t>
            </a:r>
            <a:r>
              <a:rPr/>
              <a:t> используется для хранения неинициализированных данных, то есть данных, для которых на момент компиляции только резервируется память, а их значения присваиваются в ходе выполнения программы (например, буферы, переменные для динамического ввода)</a:t>
            </a:r>
          </a:p>
          <a:p>
            <a:pPr lvl="0" indent="-342900" marL="342900">
              <a:buAutoNum type="arabicPeriod"/>
            </a:pPr>
            <a:r>
              <a:rPr b="1"/>
              <a:t>Для чего используются компоненты db, dw, dd, dq и dt языка ассемблера NASM?</a:t>
            </a:r>
            <a:br/>
            <a:r>
              <a:rPr/>
              <a:t>Это директивы определения данных, используемые в секции </a:t>
            </a:r>
            <a:r>
              <a:rPr>
                <a:latin typeface="Courier"/>
              </a:rPr>
              <a:t>.data</a:t>
            </a:r>
            <a:r>
              <a:rPr/>
              <a:t> для выделения памяти под данные и указания их начальных значений:</a:t>
            </a:r>
          </a:p>
          <a:p>
            <a:pPr lvl="1"/>
            <a:r>
              <a:rPr>
                <a:latin typeface="Courier"/>
              </a:rPr>
              <a:t>db</a:t>
            </a:r>
            <a:r>
              <a:rPr/>
              <a:t> (Define Byte): Определяет переменную размером 1 байт</a:t>
            </a:r>
          </a:p>
          <a:p>
            <a:pPr lvl="1"/>
            <a:r>
              <a:rPr>
                <a:latin typeface="Courier"/>
              </a:rPr>
              <a:t>dw</a:t>
            </a:r>
            <a:r>
              <a:rPr/>
              <a:t> (Define Word): Определяет переменную размером 2 байта</a:t>
            </a:r>
          </a:p>
          <a:p>
            <a:pPr lvl="1"/>
            <a:r>
              <a:rPr>
                <a:latin typeface="Courier"/>
              </a:rPr>
              <a:t>dd</a:t>
            </a:r>
            <a:r>
              <a:rPr/>
              <a:t> (Define Doubleword): Определяет переменную размером 4 байта</a:t>
            </a:r>
          </a:p>
          <a:p>
            <a:pPr lvl="1"/>
            <a:r>
              <a:rPr>
                <a:latin typeface="Courier"/>
              </a:rPr>
              <a:t>dq</a:t>
            </a:r>
            <a:r>
              <a:rPr/>
              <a:t> (Define Quadword): Определяет переменную размером 8 байт</a:t>
            </a:r>
          </a:p>
          <a:p>
            <a:pPr lvl="1"/>
            <a:r>
              <a:rPr>
                <a:latin typeface="Courier"/>
              </a:rPr>
              <a:t>dt</a:t>
            </a:r>
            <a:r>
              <a:rPr/>
              <a:t> (Define Ten Bytes): Определяет переменную размером 10 байт</a:t>
            </a:r>
          </a:p>
          <a:p>
            <a:pPr lvl="0" indent="-342900" marL="342900">
              <a:buAutoNum type="arabicPeriod"/>
            </a:pPr>
            <a:r>
              <a:rPr b="1"/>
              <a:t>Какое произойдёт действие при выполнении инструкции mov eax, esi?</a:t>
            </a:r>
            <a:br/>
            <a:r>
              <a:rPr/>
              <a:t>Она скопирует 32-битное значение из исходного операнда (регистра </a:t>
            </a:r>
            <a:r>
              <a:rPr>
                <a:latin typeface="Courier"/>
              </a:rPr>
              <a:t>esi</a:t>
            </a:r>
            <a:r>
              <a:rPr/>
              <a:t>) в целевой операнд (регистр </a:t>
            </a:r>
            <a:r>
              <a:rPr>
                <a:latin typeface="Courier"/>
              </a:rPr>
              <a:t>eax</a:t>
            </a:r>
            <a:r>
              <a:rPr/>
              <a:t>). Предыдущее значение </a:t>
            </a:r>
            <a:r>
              <a:rPr>
                <a:latin typeface="Courier"/>
              </a:rPr>
              <a:t>eax</a:t>
            </a:r>
            <a:r>
              <a:rPr/>
              <a:t> будет перезаписано.</a:t>
            </a:r>
          </a:p>
          <a:p>
            <a:pPr lvl="0" indent="-342900" marL="342900">
              <a:buAutoNum type="arabicPeriod"/>
            </a:pPr>
            <a:r>
              <a:rPr b="1"/>
              <a:t>Для чего используется инструкция int 80h?</a:t>
            </a:r>
            <a:br/>
            <a:r>
              <a:rPr/>
              <a:t>В системах Linux инструкция </a:t>
            </a:r>
            <a:r>
              <a:rPr>
                <a:latin typeface="Courier"/>
              </a:rPr>
              <a:t>int 0x80</a:t>
            </a:r>
            <a:r>
              <a:rPr/>
              <a:t> используется для генерации </a:t>
            </a:r>
            <a:r>
              <a:rPr b="1"/>
              <a:t>программного прерывания</a:t>
            </a:r>
            <a:r>
              <a:rPr/>
              <a:t> с целью вызова системных сервисов ядра Linux (системных вызовов). Помещая номер системного вызова в регистр </a:t>
            </a:r>
            <a:r>
              <a:rPr>
                <a:latin typeface="Courier"/>
              </a:rPr>
              <a:t>eax</a:t>
            </a:r>
            <a:r>
              <a:rPr/>
              <a:t>, параметры в регистры </a:t>
            </a:r>
            <a:r>
              <a:rPr>
                <a:latin typeface="Courier"/>
              </a:rPr>
              <a:t>ebx</a:t>
            </a:r>
            <a:r>
              <a:rPr/>
              <a:t>, </a:t>
            </a:r>
            <a:r>
              <a:rPr>
                <a:latin typeface="Courier"/>
              </a:rPr>
              <a:t>ecx</a:t>
            </a:r>
            <a:r>
              <a:rPr/>
              <a:t>, </a:t>
            </a:r>
            <a:r>
              <a:rPr>
                <a:latin typeface="Courier"/>
              </a:rPr>
              <a:t>edx</a:t>
            </a:r>
            <a:r>
              <a:rPr/>
              <a:t> и т.д., а затем выполняя </a:t>
            </a:r>
            <a:r>
              <a:rPr>
                <a:latin typeface="Courier"/>
              </a:rPr>
              <a:t>int 0x80</a:t>
            </a:r>
            <a:r>
              <a:rPr/>
              <a:t>, программа может запросить у ядра выполнение привилегированных операций, таких как ввод, вывод, завершение работы.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Выводы</a:t>
            </a:r>
          </a:p>
          <a:p>
            <a:pPr lvl="0" indent="0" marL="0">
              <a:buNone/>
            </a:pPr>
            <a:r>
              <a:rPr/>
              <a:t>В ходе данной лабораторной работы я успешно приобрел следующие навыки:</a:t>
            </a:r>
          </a:p>
          <a:p>
            <a:pPr lvl="0" indent="-342900" marL="342900">
              <a:buAutoNum type="arabicPeriod"/>
            </a:pPr>
            <a:r>
              <a:rPr b="1"/>
              <a:t>Работа с Midnight Commander:</a:t>
            </a:r>
            <a:r>
              <a:rPr/>
              <a:t> Научился уверенно использовать функциональные клавиши для операций управления файлами, включая создание каталогов (</a:t>
            </a:r>
            <a:r>
              <a:rPr>
                <a:latin typeface="Courier"/>
              </a:rPr>
              <a:t>F7</a:t>
            </a:r>
            <a:r>
              <a:rPr/>
              <a:t>), редактирование файлов (</a:t>
            </a:r>
            <a:r>
              <a:rPr>
                <a:latin typeface="Courier"/>
              </a:rPr>
              <a:t>F4</a:t>
            </a:r>
            <a:r>
              <a:rPr/>
              <a:t>), просмотр файлов (</a:t>
            </a:r>
            <a:r>
              <a:rPr>
                <a:latin typeface="Courier"/>
              </a:rPr>
              <a:t>F3</a:t>
            </a:r>
            <a:r>
              <a:rPr/>
              <a:t>), копирование файлов (</a:t>
            </a:r>
            <a:r>
              <a:rPr>
                <a:latin typeface="Courier"/>
              </a:rPr>
              <a:t>F5</a:t>
            </a:r>
            <a:r>
              <a:rPr/>
              <a:t>) и другие.</a:t>
            </a:r>
          </a:p>
          <a:p>
            <a:pPr lvl="0" indent="-342900" marL="342900">
              <a:buAutoNum type="arabicPeriod"/>
            </a:pPr>
            <a:r>
              <a:rPr b="1"/>
              <a:t>Понимание структуры программы NASM:</a:t>
            </a:r>
            <a:r>
              <a:rPr/>
              <a:t> Глубоко усвоил назначение и использование трех основных секций ассемблерной программы, научился корректно объявлять переменные и писать исполняемый код.</a:t>
            </a:r>
          </a:p>
          <a:p>
            <a:pPr lvl="0" indent="-342900" marL="342900">
              <a:buAutoNum type="arabicPeriod"/>
            </a:pPr>
            <a:r>
              <a:rPr b="1"/>
              <a:t>Применение системных вызовов:</a:t>
            </a:r>
            <a:r>
              <a:rPr/>
              <a:t> Освоил использование системных вызовов </a:t>
            </a:r>
            <a:r>
              <a:rPr>
                <a:latin typeface="Courier"/>
              </a:rPr>
              <a:t>sys_write</a:t>
            </a:r>
            <a:r>
              <a:rPr/>
              <a:t>, </a:t>
            </a:r>
            <a:r>
              <a:rPr>
                <a:latin typeface="Courier"/>
              </a:rPr>
              <a:t>sys_read</a:t>
            </a:r>
            <a:r>
              <a:rPr/>
              <a:t> и </a:t>
            </a:r>
            <a:r>
              <a:rPr>
                <a:latin typeface="Courier"/>
              </a:rPr>
              <a:t>sys_exit</a:t>
            </a:r>
            <a:r>
              <a:rPr/>
              <a:t> для реализации базового ввода-вывода.</a:t>
            </a:r>
          </a:p>
          <a:p>
            <a:pPr lvl="0" indent="-342900" marL="342900">
              <a:buAutoNum type="arabicPeriod"/>
            </a:pPr>
            <a:r>
              <a:rPr b="1"/>
              <a:t>Использование внешних библиотек:</a:t>
            </a:r>
            <a:r>
              <a:rPr/>
              <a:t> Научился использовать директиву </a:t>
            </a:r>
            <a:r>
              <a:rPr>
                <a:latin typeface="Courier"/>
              </a:rPr>
              <a:t>%include</a:t>
            </a:r>
            <a:r>
              <a:rPr/>
              <a:t> для подключения внешних файлов и вызова подпрограмм, что позволяет упростить написание кода.</a:t>
            </a:r>
          </a:p>
          <a:p>
            <a:pPr lvl="0" indent="-342900" marL="342900">
              <a:buAutoNum type="arabicPeriod"/>
            </a:pPr>
            <a:r>
              <a:rPr b="1"/>
              <a:t>Навыки решения проблем:</a:t>
            </a:r>
            <a:r>
              <a:rPr/>
              <a:t> В процессе работы столкнулся с ошибкой в функции </a:t>
            </a:r>
            <a:r>
              <a:rPr>
                <a:latin typeface="Courier"/>
              </a:rPr>
              <a:t>sread</a:t>
            </a:r>
            <a:r>
              <a:rPr/>
              <a:t> файла </a:t>
            </a:r>
            <a:r>
              <a:rPr>
                <a:latin typeface="Courier"/>
              </a:rPr>
              <a:t>in_out.asm</a:t>
            </a:r>
            <a:r>
              <a:rPr/>
              <a:t>, проанализировал код и успешно устранил проблему путем отладки.</a:t>
            </a:r>
          </a:p>
          <a:p>
            <a:pPr lvl="0" indent="0" marL="0">
              <a:buNone/>
            </a:pPr>
            <a:r>
              <a:rPr b="1"/>
              <a:t>Достижение целей работы:</a:t>
            </a:r>
            <a:r>
              <a:rPr/>
              <a:t> Все цели лабораторной работы достигнуты. Я научился уверенно работать в mc, понимать структуру программ на NASM, использовать системные вызовы и успешно выполнил задания для самостоятельной работы. Ответы на вопросы для самопроверки позволили дополнительно закрепить понимание изученных концепций.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2025-11-08T19:34:47Z</dcterms:created>
  <dcterms:modified xsi:type="dcterms:W3CDTF">2025-11-08T19:34:47Z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